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78" r:id="rId6"/>
    <p:sldId id="258" r:id="rId7"/>
    <p:sldId id="281" r:id="rId8"/>
    <p:sldId id="291" r:id="rId9"/>
    <p:sldId id="292" r:id="rId10"/>
    <p:sldId id="293" r:id="rId11"/>
    <p:sldId id="294" r:id="rId12"/>
    <p:sldId id="287" r:id="rId13"/>
    <p:sldId id="289" r:id="rId14"/>
    <p:sldId id="288" r:id="rId15"/>
    <p:sldId id="29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0655" autoAdjust="0"/>
  </p:normalViewPr>
  <p:slideViewPr>
    <p:cSldViewPr snapToGrid="0">
      <p:cViewPr varScale="1">
        <p:scale>
          <a:sx n="144" d="100"/>
          <a:sy n="144" d="100"/>
        </p:scale>
        <p:origin x="864" y="120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72625-ED64-EC77-37AD-B097D701F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470149-B2CE-9974-F8CF-FF3E984F3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C0E079-5424-625C-1DB9-CA0AE3906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19E14-7374-787E-739C-571A496242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259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E8A89-3CE6-64A0-FD98-517FADEE6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680BB7-299C-F855-E113-8CC67BF28B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BBA0B-5BD4-2C35-2117-9ECFF4517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F46B8-BD4A-A622-FAE0-FB9F4815C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708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 dirty="0"/>
              <a:t>Process Query Engine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956B12-FF3E-EE9A-B1C1-AE73438E9CE0}"/>
              </a:ext>
            </a:extLst>
          </p:cNvPr>
          <p:cNvSpPr txBox="1"/>
          <p:nvPr/>
        </p:nvSpPr>
        <p:spPr>
          <a:xfrm>
            <a:off x="6566400" y="5292000"/>
            <a:ext cx="380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Amaan Rajguru, Jack Bulas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brains behind the Brawns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Key Goals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gives Input EMF Input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Process tokens for generator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converted MF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Assess Aggregates and conditionals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table after execution of table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62F40E6-F3CC-F58C-5F96-4D5233F45C7E}"/>
              </a:ext>
            </a:extLst>
          </p:cNvPr>
          <p:cNvCxnSpPr>
            <a:cxnSpLocks/>
            <a:stCxn id="31" idx="3"/>
            <a:endCxn id="7" idx="2"/>
          </p:cNvCxnSpPr>
          <p:nvPr/>
        </p:nvCxnSpPr>
        <p:spPr>
          <a:xfrm>
            <a:off x="7183200" y="1015200"/>
            <a:ext cx="15432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AF5575F-75EA-4403-C3AB-6230D40AD3AC}"/>
              </a:ext>
            </a:extLst>
          </p:cNvPr>
          <p:cNvSpPr/>
          <p:nvPr/>
        </p:nvSpPr>
        <p:spPr>
          <a:xfrm>
            <a:off x="8726400" y="169200"/>
            <a:ext cx="1843200" cy="1692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Parser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128D1FA-4A2D-DDCC-279F-E57DCF0C654C}"/>
              </a:ext>
            </a:extLst>
          </p:cNvPr>
          <p:cNvSpPr/>
          <p:nvPr/>
        </p:nvSpPr>
        <p:spPr>
          <a:xfrm>
            <a:off x="8802612" y="2900607"/>
            <a:ext cx="1690776" cy="163037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Generator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FA0AC4-2CDD-A966-264F-D43463F62545}"/>
              </a:ext>
            </a:extLst>
          </p:cNvPr>
          <p:cNvSpPr/>
          <p:nvPr/>
        </p:nvSpPr>
        <p:spPr>
          <a:xfrm>
            <a:off x="5008800" y="4701605"/>
            <a:ext cx="2174400" cy="12419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Table Output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2FC361A-0420-5B0A-46FA-3FE1B535C0C6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>
            <a:off x="9648000" y="1861200"/>
            <a:ext cx="0" cy="10394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E0E8F441-37D5-B119-53CB-BC32D2F5D1C1}"/>
              </a:ext>
            </a:extLst>
          </p:cNvPr>
          <p:cNvCxnSpPr>
            <a:cxnSpLocks/>
            <a:stCxn id="10" idx="4"/>
            <a:endCxn id="11" idx="3"/>
          </p:cNvCxnSpPr>
          <p:nvPr/>
        </p:nvCxnSpPr>
        <p:spPr>
          <a:xfrm rot="5400000">
            <a:off x="8019791" y="3694395"/>
            <a:ext cx="791618" cy="246480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A2ADC66B-20E9-3B6B-D8D8-DF1982253F12}"/>
              </a:ext>
            </a:extLst>
          </p:cNvPr>
          <p:cNvSpPr/>
          <p:nvPr/>
        </p:nvSpPr>
        <p:spPr>
          <a:xfrm>
            <a:off x="5008800" y="394201"/>
            <a:ext cx="2174400" cy="12419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User Input</a:t>
            </a:r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372140"/>
            <a:ext cx="8420100" cy="1780860"/>
          </a:xfrm>
        </p:spPr>
        <p:txBody>
          <a:bodyPr/>
          <a:lstStyle/>
          <a:p>
            <a:r>
              <a:rPr lang="en-US" dirty="0"/>
              <a:t>Query Structure: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EDBE6233-75E9-40D1-968F-58CA9AD0FF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2349821"/>
            <a:ext cx="7549500" cy="4136039"/>
          </a:xfrm>
        </p:spPr>
        <p:txBody>
          <a:bodyPr>
            <a:normAutofit/>
          </a:bodyPr>
          <a:lstStyle/>
          <a:p>
            <a:r>
              <a:rPr lang="en-US" dirty="0"/>
              <a:t>SELECT ATTRIBUTE(S):    </a:t>
            </a:r>
          </a:p>
          <a:p>
            <a:r>
              <a:rPr lang="en-US" dirty="0"/>
              <a:t>FROM:</a:t>
            </a:r>
          </a:p>
          <a:p>
            <a:r>
              <a:rPr lang="en-US" dirty="0"/>
              <a:t>WHERE:    </a:t>
            </a:r>
          </a:p>
          <a:p>
            <a:r>
              <a:rPr lang="en-US" dirty="0"/>
              <a:t>NUMBER OF GROUPING VARIABLES(n):    </a:t>
            </a:r>
          </a:p>
          <a:p>
            <a:r>
              <a:rPr lang="en-US" dirty="0"/>
              <a:t>GROUPING ATTRIBUTES(V):    </a:t>
            </a:r>
          </a:p>
          <a:p>
            <a:r>
              <a:rPr lang="en-US" dirty="0"/>
              <a:t>F-VECT([F]):</a:t>
            </a:r>
          </a:p>
          <a:p>
            <a:r>
              <a:rPr lang="en-US" dirty="0"/>
              <a:t>SELECT CONDITION-VECT([</a:t>
            </a:r>
            <a:r>
              <a:rPr lang="el-GR" dirty="0"/>
              <a:t>σ]):</a:t>
            </a:r>
            <a:endParaRPr lang="en-US" dirty="0"/>
          </a:p>
          <a:p>
            <a:r>
              <a:rPr lang="en-US" dirty="0"/>
              <a:t>HAVING_CONDITION(G):</a:t>
            </a:r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77EFB-2C1E-362D-1372-8A27D680C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B4609-EE3E-F075-D29F-07F8FBB5F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372140"/>
            <a:ext cx="8420100" cy="1231373"/>
          </a:xfrm>
        </p:spPr>
        <p:txBody>
          <a:bodyPr/>
          <a:lstStyle/>
          <a:p>
            <a:r>
              <a:rPr lang="en-US" dirty="0"/>
              <a:t>Parser Conversion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0BA88A8-C398-3BE2-ABBA-B9E12D6E5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E138ACA3-319C-14F8-68D6-E6C5673FF62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2349821"/>
            <a:ext cx="4368248" cy="4136039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 SELECT ATTRIBUTE(S):</a:t>
            </a:r>
          </a:p>
          <a:p>
            <a:r>
              <a:rPr lang="en-US" dirty="0"/>
              <a:t>    </a:t>
            </a:r>
            <a:r>
              <a:rPr lang="en-US" dirty="0" err="1"/>
              <a:t>cust</a:t>
            </a:r>
            <a:r>
              <a:rPr lang="en-US" dirty="0"/>
              <a:t>, 1_avg_price, 2_sum_quant, 3_min_quant</a:t>
            </a:r>
          </a:p>
          <a:p>
            <a:r>
              <a:rPr lang="en-US" dirty="0"/>
              <a:t>    NUMBER OF GROUPING VARIABLES(n):</a:t>
            </a:r>
          </a:p>
          <a:p>
            <a:r>
              <a:rPr lang="en-US" dirty="0"/>
              <a:t>    3</a:t>
            </a:r>
          </a:p>
          <a:p>
            <a:r>
              <a:rPr lang="en-US" dirty="0"/>
              <a:t>    GROUPING ATTRIBUTES(V):</a:t>
            </a:r>
          </a:p>
          <a:p>
            <a:r>
              <a:rPr lang="en-US" dirty="0"/>
              <a:t>    </a:t>
            </a:r>
            <a:r>
              <a:rPr lang="en-US" dirty="0" err="1"/>
              <a:t>cust</a:t>
            </a:r>
            <a:endParaRPr lang="en-US" dirty="0"/>
          </a:p>
          <a:p>
            <a:r>
              <a:rPr lang="en-US" dirty="0"/>
              <a:t>    F-VECT([F]):</a:t>
            </a:r>
          </a:p>
          <a:p>
            <a:r>
              <a:rPr lang="en-US" dirty="0"/>
              <a:t>    1_avg_price, 2_sum_quant, 3_min_quant</a:t>
            </a:r>
          </a:p>
          <a:p>
            <a:r>
              <a:rPr lang="en-US" dirty="0"/>
              <a:t>    SELECT CONDITION-VECT([</a:t>
            </a:r>
            <a:r>
              <a:rPr lang="el-GR" dirty="0"/>
              <a:t>σ]):</a:t>
            </a:r>
          </a:p>
          <a:p>
            <a:r>
              <a:rPr lang="el-GR" dirty="0"/>
              <a:t>    1.</a:t>
            </a:r>
            <a:r>
              <a:rPr lang="en-US" dirty="0"/>
              <a:t>state='CA' and  1.year = 2023 and 1.region = 'east'</a:t>
            </a:r>
          </a:p>
          <a:p>
            <a:r>
              <a:rPr lang="en-US" dirty="0"/>
              <a:t>    2.state='TX' and  2.year = 2023 and 2.region = 'east'</a:t>
            </a:r>
          </a:p>
          <a:p>
            <a:r>
              <a:rPr lang="en-US" dirty="0"/>
              <a:t>    3.state='FL' and  3.year = 2023 and 3.region = 'east'</a:t>
            </a:r>
          </a:p>
          <a:p>
            <a:r>
              <a:rPr lang="en-US" dirty="0"/>
              <a:t>    HAVING_CONDITION(G):</a:t>
            </a:r>
          </a:p>
          <a:p>
            <a:r>
              <a:rPr lang="en-US" dirty="0"/>
              <a:t>    2_sum_quant &gt; 100 or 1_avg_price &lt; 50 and 3_min_quant &gt;= 5</a:t>
            </a:r>
          </a:p>
          <a:p>
            <a:r>
              <a:rPr lang="en-US" dirty="0"/>
              <a:t>    END</a:t>
            </a:r>
          </a:p>
        </p:txBody>
      </p:sp>
      <p:sp>
        <p:nvSpPr>
          <p:cNvPr id="4" name="Content Placeholder 34">
            <a:extLst>
              <a:ext uri="{FF2B5EF4-FFF2-40B4-BE49-F238E27FC236}">
                <a16:creationId xmlns:a16="http://schemas.microsoft.com/office/drawing/2014/main" id="{F185795C-91C3-C36D-797B-9E768DDD4B83}"/>
              </a:ext>
            </a:extLst>
          </p:cNvPr>
          <p:cNvSpPr txBox="1">
            <a:spLocks/>
          </p:cNvSpPr>
          <p:nvPr/>
        </p:nvSpPr>
        <p:spPr>
          <a:xfrm>
            <a:off x="7301948" y="2349820"/>
            <a:ext cx="4368248" cy="4136039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{'select': ['</a:t>
            </a:r>
            <a:r>
              <a:rPr lang="en-US" dirty="0" err="1"/>
              <a:t>cust</a:t>
            </a:r>
            <a:r>
              <a:rPr lang="en-US" dirty="0"/>
              <a:t>', '1_avg_price', '2_sum_quant', '3_min_quant'], 'n': '3', '</a:t>
            </a:r>
            <a:r>
              <a:rPr lang="en-US" dirty="0" err="1"/>
              <a:t>groupingAttribute</a:t>
            </a:r>
            <a:r>
              <a:rPr lang="en-US" dirty="0"/>
              <a:t>': ['</a:t>
            </a:r>
            <a:r>
              <a:rPr lang="en-US" dirty="0" err="1"/>
              <a:t>cust</a:t>
            </a:r>
            <a:r>
              <a:rPr lang="en-US" dirty="0"/>
              <a:t>'], '</a:t>
            </a:r>
            <a:r>
              <a:rPr lang="en-US" dirty="0" err="1"/>
              <a:t>f_vect</a:t>
            </a:r>
            <a:r>
              <a:rPr lang="en-US" dirty="0"/>
              <a:t>': ['1_avg_price', '2_sum_quant', '3_min_quant'], '</a:t>
            </a:r>
            <a:r>
              <a:rPr lang="en-US" dirty="0" err="1"/>
              <a:t>suchThat</a:t>
            </a:r>
            <a:r>
              <a:rPr lang="en-US" dirty="0"/>
              <a:t>': ['row["state"]=\'CA\' and  row["year"] = 2023 and row["region"] = \'east\'', 'row["state"]=\'TX\' and  row["year"] = 2023 and row["region"] = \'east\'', 'row["state"]=\'FL\' and  row["year"] = 2023 and row["region"] = \'east\''], 'having': ['values._2_sum_quant &gt; 100 or values._1_avg_price &lt; 50 and values._3_min_quant &gt;= 5']}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C5E26CB-747E-A0A2-1CC2-30B7BC7CBD09}"/>
              </a:ext>
            </a:extLst>
          </p:cNvPr>
          <p:cNvSpPr txBox="1">
            <a:spLocks/>
          </p:cNvSpPr>
          <p:nvPr/>
        </p:nvSpPr>
        <p:spPr>
          <a:xfrm>
            <a:off x="7143752" y="1603512"/>
            <a:ext cx="3583884" cy="5106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+mn-lt"/>
              </a:rPr>
              <a:t>Output Query</a:t>
            </a:r>
            <a:endParaRPr lang="en-US" sz="2000" dirty="0">
              <a:latin typeface="+mn-l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080363D-D607-ACB3-4AEF-902BCCF5E2D5}"/>
              </a:ext>
            </a:extLst>
          </p:cNvPr>
          <p:cNvSpPr txBox="1">
            <a:spLocks/>
          </p:cNvSpPr>
          <p:nvPr/>
        </p:nvSpPr>
        <p:spPr>
          <a:xfrm>
            <a:off x="2933701" y="1603512"/>
            <a:ext cx="4210050" cy="5035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+mn-lt"/>
              </a:rPr>
              <a:t>Input Query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20262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A79C7-FE98-821E-F98B-17C57392C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A48DB-4469-7CA3-68D3-692C4F9F0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372140"/>
            <a:ext cx="8420100" cy="1065721"/>
          </a:xfrm>
        </p:spPr>
        <p:txBody>
          <a:bodyPr/>
          <a:lstStyle/>
          <a:p>
            <a:r>
              <a:rPr lang="en-US" dirty="0"/>
              <a:t>What generator produces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07F7E08-53CE-4182-21E3-FB8AE21B3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B4871D2B-24E8-690D-3BDA-1C8BC3EDF4A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1634888"/>
            <a:ext cx="3327952" cy="1780860"/>
          </a:xfrm>
        </p:spPr>
        <p:txBody>
          <a:bodyPr>
            <a:normAutofit/>
          </a:bodyPr>
          <a:lstStyle/>
          <a:p>
            <a:r>
              <a:rPr lang="en-US" dirty="0"/>
              <a:t>3 parts: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Create MF table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Aggregate loops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Having clause + selection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DDBA8F-914B-BEF6-0A07-BB5ECF9209C2}"/>
              </a:ext>
            </a:extLst>
          </p:cNvPr>
          <p:cNvSpPr txBox="1"/>
          <p:nvPr/>
        </p:nvSpPr>
        <p:spPr>
          <a:xfrm>
            <a:off x="7566991" y="1634888"/>
            <a:ext cx="3843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MF 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607B60-0B75-0382-041D-725DF2C7E5A0}"/>
              </a:ext>
            </a:extLst>
          </p:cNvPr>
          <p:cNvSpPr txBox="1"/>
          <p:nvPr/>
        </p:nvSpPr>
        <p:spPr>
          <a:xfrm>
            <a:off x="6712226" y="2080591"/>
            <a:ext cx="25460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</a:t>
            </a:r>
          </a:p>
          <a:p>
            <a:endParaRPr lang="en-US" dirty="0"/>
          </a:p>
          <a:p>
            <a:r>
              <a:rPr lang="en-US" dirty="0"/>
              <a:t>(GroupingAttribute1,</a:t>
            </a:r>
          </a:p>
          <a:p>
            <a:r>
              <a:rPr lang="en-US" dirty="0"/>
              <a:t>GroupingAttribute2,</a:t>
            </a:r>
          </a:p>
          <a:p>
            <a:r>
              <a:rPr lang="en-US" dirty="0"/>
              <a:t>…)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553465-8313-0DE5-48CF-E3ECB0D60D63}"/>
              </a:ext>
            </a:extLst>
          </p:cNvPr>
          <p:cNvSpPr txBox="1"/>
          <p:nvPr/>
        </p:nvSpPr>
        <p:spPr>
          <a:xfrm>
            <a:off x="9488556" y="2080591"/>
            <a:ext cx="254607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Value</a:t>
            </a:r>
          </a:p>
          <a:p>
            <a:endParaRPr lang="en-US" dirty="0"/>
          </a:p>
          <a:p>
            <a:r>
              <a:rPr lang="en-US" dirty="0"/>
              <a:t>(aggregate1,</a:t>
            </a:r>
          </a:p>
          <a:p>
            <a:r>
              <a:rPr lang="en-US" dirty="0"/>
              <a:t>aggregate2,</a:t>
            </a:r>
          </a:p>
          <a:p>
            <a:r>
              <a:rPr lang="en-US" dirty="0"/>
              <a:t>…,</a:t>
            </a:r>
          </a:p>
          <a:p>
            <a:r>
              <a:rPr lang="en-US" dirty="0" err="1"/>
              <a:t>aggregateN</a:t>
            </a:r>
            <a:r>
              <a:rPr lang="en-US" dirty="0"/>
              <a:t>)</a:t>
            </a:r>
          </a:p>
          <a:p>
            <a:r>
              <a:rPr lang="en-US" dirty="0"/>
              <a:t>sum,</a:t>
            </a:r>
          </a:p>
          <a:p>
            <a:r>
              <a:rPr lang="en-US" dirty="0"/>
              <a:t>count,</a:t>
            </a:r>
          </a:p>
          <a:p>
            <a:r>
              <a:rPr lang="en-US" dirty="0"/>
              <a:t>max,</a:t>
            </a:r>
          </a:p>
          <a:p>
            <a:r>
              <a:rPr lang="en-US" dirty="0"/>
              <a:t>min,</a:t>
            </a:r>
            <a:endParaRPr lang="en-US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BCE1E1-C96D-DF3D-91ED-42C0972D86D7}"/>
              </a:ext>
            </a:extLst>
          </p:cNvPr>
          <p:cNvSpPr txBox="1"/>
          <p:nvPr/>
        </p:nvSpPr>
        <p:spPr>
          <a:xfrm>
            <a:off x="6897757" y="4306957"/>
            <a:ext cx="1855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Grouping Variables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071E4D-075A-AD1E-5A19-436891B15E7E}"/>
              </a:ext>
            </a:extLst>
          </p:cNvPr>
          <p:cNvSpPr txBox="1"/>
          <p:nvPr/>
        </p:nvSpPr>
        <p:spPr>
          <a:xfrm>
            <a:off x="9505598" y="5387009"/>
            <a:ext cx="1855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F-</a:t>
            </a:r>
            <a:r>
              <a:rPr lang="en-US" dirty="0" err="1"/>
              <a:t>vect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4C07B45-FD14-C655-A5CD-E666700FB8DC}"/>
              </a:ext>
            </a:extLst>
          </p:cNvPr>
          <p:cNvCxnSpPr>
            <a:stCxn id="6" idx="0"/>
          </p:cNvCxnSpPr>
          <p:nvPr/>
        </p:nvCxnSpPr>
        <p:spPr>
          <a:xfrm flipH="1" flipV="1">
            <a:off x="7666383" y="3511752"/>
            <a:ext cx="159026" cy="795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D37C231-6DF4-36A7-2941-3B27433B49FC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7825409" y="3415748"/>
            <a:ext cx="0" cy="891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8475577-1B38-4E08-47C7-58F73BCA29B7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0433250" y="3783496"/>
            <a:ext cx="82350" cy="1603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123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D2A89-3708-298C-D6E7-F1896FD58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935161"/>
          </a:xfrm>
        </p:spPr>
        <p:txBody>
          <a:bodyPr/>
          <a:lstStyle/>
          <a:p>
            <a:r>
              <a:rPr lang="en-US" dirty="0"/>
              <a:t>Aggregate Loops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6C2D00-D64A-A932-59B8-24213714051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1782416"/>
            <a:ext cx="3943627" cy="4703443"/>
          </a:xfrm>
        </p:spPr>
        <p:txBody>
          <a:bodyPr/>
          <a:lstStyle/>
          <a:p>
            <a:r>
              <a:rPr lang="en-US" dirty="0"/>
              <a:t>- Reset the temporary values in the mf table</a:t>
            </a:r>
          </a:p>
          <a:p>
            <a:r>
              <a:rPr lang="en-US" dirty="0"/>
              <a:t>- THEN</a:t>
            </a:r>
          </a:p>
          <a:p>
            <a:r>
              <a:rPr lang="en-US" dirty="0"/>
              <a:t>- match </a:t>
            </a:r>
            <a:r>
              <a:rPr lang="en-US" dirty="0" err="1"/>
              <a:t>db</a:t>
            </a:r>
            <a:r>
              <a:rPr lang="en-US" dirty="0"/>
              <a:t> rows to their </a:t>
            </a:r>
            <a:r>
              <a:rPr lang="en-US" dirty="0" err="1"/>
              <a:t>mfTable</a:t>
            </a:r>
            <a:r>
              <a:rPr lang="en-US" dirty="0"/>
              <a:t> row</a:t>
            </a:r>
          </a:p>
          <a:p>
            <a:r>
              <a:rPr lang="en-US" dirty="0"/>
              <a:t>- check appropriate </a:t>
            </a:r>
            <a:r>
              <a:rPr lang="en-US" dirty="0" err="1"/>
              <a:t>suchThat</a:t>
            </a:r>
            <a:r>
              <a:rPr lang="en-US" dirty="0"/>
              <a:t> condition</a:t>
            </a:r>
          </a:p>
          <a:p>
            <a:r>
              <a:rPr lang="en-US" dirty="0"/>
              <a:t>- update aggregates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CF5C8-4C20-A14F-9CF6-9D274E22253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269356" y="1400509"/>
            <a:ext cx="2958548" cy="763814"/>
          </a:xfrm>
        </p:spPr>
        <p:txBody>
          <a:bodyPr/>
          <a:lstStyle/>
          <a:p>
            <a:r>
              <a:rPr lang="nn-NO" dirty="0"/>
              <a:t>ex: 1_avg_sum -&gt; “avg”, 1, “1_avg_sum”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5F1AD-13B6-B6BA-3409-781D8CB4F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4835F4-A643-859F-8D54-6C0730E251DF}"/>
              </a:ext>
            </a:extLst>
          </p:cNvPr>
          <p:cNvSpPr txBox="1"/>
          <p:nvPr/>
        </p:nvSpPr>
        <p:spPr>
          <a:xfrm>
            <a:off x="8143460" y="2335670"/>
            <a:ext cx="3472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generate(</a:t>
            </a:r>
            <a:r>
              <a:rPr lang="en-US" b="1" dirty="0" err="1"/>
              <a:t>aggType</a:t>
            </a:r>
            <a:r>
              <a:rPr lang="en-US" b="1" dirty="0"/>
              <a:t>, </a:t>
            </a:r>
            <a:r>
              <a:rPr lang="en-US" b="1" dirty="0" err="1"/>
              <a:t>iVal</a:t>
            </a:r>
            <a:r>
              <a:rPr lang="en-US" b="1" dirty="0"/>
              <a:t>, </a:t>
            </a:r>
            <a:r>
              <a:rPr lang="en-US" b="1" dirty="0" err="1"/>
              <a:t>vectVal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6B056B7E-0E34-A0D2-B014-765EF86C3CF7}"/>
              </a:ext>
            </a:extLst>
          </p:cNvPr>
          <p:cNvSpPr txBox="1">
            <a:spLocks/>
          </p:cNvSpPr>
          <p:nvPr/>
        </p:nvSpPr>
        <p:spPr>
          <a:xfrm>
            <a:off x="6173856" y="568961"/>
            <a:ext cx="2035866" cy="338076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n-NO" dirty="0"/>
              <a:t>groupingAttribute</a:t>
            </a:r>
          </a:p>
          <a:p>
            <a:endParaRPr lang="en-US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94D0C9EE-C50D-4A4E-49B4-5FA39C72D03A}"/>
              </a:ext>
            </a:extLst>
          </p:cNvPr>
          <p:cNvSpPr txBox="1">
            <a:spLocks/>
          </p:cNvSpPr>
          <p:nvPr/>
        </p:nvSpPr>
        <p:spPr>
          <a:xfrm>
            <a:off x="8441634" y="568961"/>
            <a:ext cx="2035866" cy="338076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n-NO" dirty="0"/>
              <a:t>f_vect</a:t>
            </a:r>
          </a:p>
          <a:p>
            <a:endParaRPr lang="nn-NO" dirty="0"/>
          </a:p>
          <a:p>
            <a:endParaRPr lang="en-US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53E8C788-7867-D08B-3994-AEB09A95A15A}"/>
              </a:ext>
            </a:extLst>
          </p:cNvPr>
          <p:cNvSpPr txBox="1">
            <a:spLocks/>
          </p:cNvSpPr>
          <p:nvPr/>
        </p:nvSpPr>
        <p:spPr>
          <a:xfrm>
            <a:off x="9579663" y="3429000"/>
            <a:ext cx="2035866" cy="338076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n-NO" dirty="0"/>
              <a:t>suchThat</a:t>
            </a:r>
          </a:p>
          <a:p>
            <a:endParaRPr lang="nn-NO" dirty="0"/>
          </a:p>
          <a:p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EBB5C35-828C-DAC2-8F17-DF0EC5D13BCE}"/>
              </a:ext>
            </a:extLst>
          </p:cNvPr>
          <p:cNvCxnSpPr>
            <a:stCxn id="10" idx="2"/>
            <a:endCxn id="6" idx="0"/>
          </p:cNvCxnSpPr>
          <p:nvPr/>
        </p:nvCxnSpPr>
        <p:spPr>
          <a:xfrm>
            <a:off x="9459567" y="907037"/>
            <a:ext cx="289063" cy="493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EC9C39-D1C2-9927-24AA-1C4820D2A672}"/>
              </a:ext>
            </a:extLst>
          </p:cNvPr>
          <p:cNvCxnSpPr>
            <a:cxnSpLocks/>
          </p:cNvCxnSpPr>
          <p:nvPr/>
        </p:nvCxnSpPr>
        <p:spPr>
          <a:xfrm flipH="1">
            <a:off x="9627704" y="1997594"/>
            <a:ext cx="120926" cy="387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05AB811-E9B1-6ED1-3029-44AC534C3A80}"/>
              </a:ext>
            </a:extLst>
          </p:cNvPr>
          <p:cNvCxnSpPr>
            <a:stCxn id="9" idx="2"/>
          </p:cNvCxnSpPr>
          <p:nvPr/>
        </p:nvCxnSpPr>
        <p:spPr>
          <a:xfrm>
            <a:off x="7191789" y="907037"/>
            <a:ext cx="1382368" cy="1478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828FB63-9F2F-0178-C6C6-9EFA36F2640C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6096000" y="2071990"/>
            <a:ext cx="2047460" cy="448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1C70E4C-A98F-73A2-1FAA-06D26F32AE5C}"/>
              </a:ext>
            </a:extLst>
          </p:cNvPr>
          <p:cNvCxnSpPr/>
          <p:nvPr/>
        </p:nvCxnSpPr>
        <p:spPr>
          <a:xfrm flipV="1">
            <a:off x="10197548" y="2610678"/>
            <a:ext cx="175802" cy="818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017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0E77A-8B1F-F0A4-88D5-87C0E188C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99D05-7F0A-AF32-4B56-CBDE5F1F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935161"/>
          </a:xfrm>
        </p:spPr>
        <p:txBody>
          <a:bodyPr/>
          <a:lstStyle/>
          <a:p>
            <a:r>
              <a:rPr lang="en-US" dirty="0"/>
              <a:t>Having Clause + Selection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4B948-F375-1C5B-8DEB-4226C18C802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1782416"/>
            <a:ext cx="3699013" cy="3319671"/>
          </a:xfrm>
        </p:spPr>
        <p:txBody>
          <a:bodyPr/>
          <a:lstStyle/>
          <a:p>
            <a:r>
              <a:rPr lang="en-US" dirty="0"/>
              <a:t>- loop over our mf table and filter everything by our having clause</a:t>
            </a:r>
          </a:p>
          <a:p>
            <a:r>
              <a:rPr lang="en-US" dirty="0"/>
              <a:t>- create an array for our new row</a:t>
            </a:r>
          </a:p>
          <a:p>
            <a:r>
              <a:rPr lang="en-US" dirty="0"/>
              <a:t>- iterate over our filtered mf table</a:t>
            </a:r>
          </a:p>
          <a:p>
            <a:r>
              <a:rPr lang="en-US" dirty="0"/>
              <a:t>- add selection value to row</a:t>
            </a:r>
          </a:p>
          <a:p>
            <a:r>
              <a:rPr lang="en-US" dirty="0"/>
              <a:t>- return our array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5545B5-8498-4A9E-71C3-803EB6485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C05D6F3-9FF8-B979-3248-46E784BBDBD6}"/>
              </a:ext>
            </a:extLst>
          </p:cNvPr>
          <p:cNvSpPr txBox="1">
            <a:spLocks/>
          </p:cNvSpPr>
          <p:nvPr/>
        </p:nvSpPr>
        <p:spPr>
          <a:xfrm>
            <a:off x="7507357" y="2093843"/>
            <a:ext cx="1007165" cy="337931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Having</a:t>
            </a:r>
          </a:p>
          <a:p>
            <a:endParaRPr lang="en-US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4F10AA7C-DF0C-EABC-3A78-C1D9F479DF7B}"/>
              </a:ext>
            </a:extLst>
          </p:cNvPr>
          <p:cNvSpPr txBox="1">
            <a:spLocks/>
          </p:cNvSpPr>
          <p:nvPr/>
        </p:nvSpPr>
        <p:spPr>
          <a:xfrm>
            <a:off x="7507356" y="2683564"/>
            <a:ext cx="1007165" cy="337931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Select</a:t>
            </a:r>
          </a:p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6FFD54D1-0135-8C08-1BE5-045185C6CCBC}"/>
              </a:ext>
            </a:extLst>
          </p:cNvPr>
          <p:cNvSpPr txBox="1">
            <a:spLocks/>
          </p:cNvSpPr>
          <p:nvPr/>
        </p:nvSpPr>
        <p:spPr>
          <a:xfrm>
            <a:off x="7507356" y="3933548"/>
            <a:ext cx="2186609" cy="337931"/>
          </a:xfrm>
          <a:prstGeom prst="rect">
            <a:avLst/>
          </a:prstGeom>
        </p:spPr>
        <p:txBody>
          <a:bodyPr vert="horz" lIns="91440" tIns="0" rIns="9144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 err="1"/>
              <a:t>groupingAttribute</a:t>
            </a:r>
            <a:endParaRPr lang="en-US" sz="7200" dirty="0"/>
          </a:p>
          <a:p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AC3E457-61D5-1DBA-F53D-DFEE252FEF30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6036365" y="2027583"/>
            <a:ext cx="1470992" cy="235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FC102E3-4556-EF18-B2A1-CB94BC100BA5}"/>
              </a:ext>
            </a:extLst>
          </p:cNvPr>
          <p:cNvCxnSpPr>
            <a:stCxn id="14" idx="1"/>
          </p:cNvCxnSpPr>
          <p:nvPr/>
        </p:nvCxnSpPr>
        <p:spPr>
          <a:xfrm flipH="1">
            <a:off x="6155635" y="2852530"/>
            <a:ext cx="1351721" cy="4207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73C1A4E-11D8-048F-DA78-BE4E1B92CF0A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5970104" y="3933548"/>
            <a:ext cx="1537252" cy="168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5956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BBBFCE1-CF2C-D025-61FF-603A99A64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Stack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50CAE42-9734-8964-8A40-34797844D0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2AED4-F61D-7674-0A42-124FAECEF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8789ECB-A140-2302-E85D-9BE9AA6A268D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Python: Used to implement the query-processing parser, syntax validation pipeline, helper utilities, and SQL normalization logic. Python was chosen due to its lightweight syntax and strong support for structured string processing.</a:t>
            </a:r>
          </a:p>
          <a:p>
            <a:r>
              <a:rPr lang="en-US" dirty="0" err="1"/>
              <a:t>Dataclasses</a:t>
            </a:r>
            <a:r>
              <a:rPr lang="en-US" dirty="0"/>
              <a:t> Library: Used to model aggregate tokens through structured objects containing grouping variables, aggregation functions, attributes, and normalized SQL representations.</a:t>
            </a:r>
          </a:p>
        </p:txBody>
      </p:sp>
    </p:spTree>
    <p:extLst>
      <p:ext uri="{BB962C8B-B14F-4D97-AF65-F5344CB8AC3E}">
        <p14:creationId xmlns:p14="http://schemas.microsoft.com/office/powerpoint/2010/main" val="3083419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BDAA-C8B4-46F5-9884-19C15B728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Bugs and Errors so far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EAF9F-362D-32E6-CDB6-58F958F45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342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9C4CE-EEB4-4BA7-C219-8F490EFFC3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Demo Time</a:t>
            </a:r>
          </a:p>
        </p:txBody>
      </p:sp>
    </p:spTree>
    <p:extLst>
      <p:ext uri="{BB962C8B-B14F-4D97-AF65-F5344CB8AC3E}">
        <p14:creationId xmlns:p14="http://schemas.microsoft.com/office/powerpoint/2010/main" val="2513671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12623-7646-70A5-1983-06EA443E1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6EA2AD-4304-C831-16D1-C48E08A1B2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9" y="2445026"/>
            <a:ext cx="5733773" cy="3741873"/>
          </a:xfrm>
        </p:spPr>
        <p:txBody>
          <a:bodyPr/>
          <a:lstStyle/>
          <a:p>
            <a:r>
              <a:rPr lang="en-US" dirty="0"/>
              <a:t>Via utilizing Python, we have created a two - part query processing system</a:t>
            </a:r>
          </a:p>
          <a:p>
            <a:r>
              <a:rPr lang="en-US" dirty="0"/>
              <a:t>First part takes user input of a given form and stores it in a normalized format after validation checks have been set</a:t>
            </a:r>
          </a:p>
          <a:p>
            <a:r>
              <a:rPr lang="en-US" dirty="0"/>
              <a:t>Second part processes the normalized tokens to output a table of values as specified by the input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8E0DC34-9DFC-2F04-205B-8217310DD7D9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580243" y="2981739"/>
            <a:ext cx="4250491" cy="337461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For Future improvements we have such features in mind: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 for more complex HAVING conditions with nested logic and parentheses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Ability to export query results to CSV or another structured output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graphical or web-based interface for entering </a:t>
            </a:r>
            <a:r>
              <a:rPr lang="en-US" dirty="0" err="1"/>
              <a:t>MFQuery</a:t>
            </a:r>
            <a:r>
              <a:rPr lang="en-US" dirty="0"/>
              <a:t> input instead of plain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Implementation of parallel processing to evaluate multiple grouping variables and aggregate calculations simultaneously.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Serializability checks to ensure that parallel query operations produce consistent and correct results.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C01E3-CE51-B37E-504A-7D98F3620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5057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162</TotalTime>
  <Words>781</Words>
  <Application>Microsoft Office PowerPoint</Application>
  <PresentationFormat>Widescreen</PresentationFormat>
  <Paragraphs>115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Tenorite</vt:lpstr>
      <vt:lpstr>Custom</vt:lpstr>
      <vt:lpstr>Process Query Engine </vt:lpstr>
      <vt:lpstr>Agenda</vt:lpstr>
      <vt:lpstr>The brains behind the Brawns</vt:lpstr>
      <vt:lpstr>Query Structure:</vt:lpstr>
      <vt:lpstr>Parser Conversion</vt:lpstr>
      <vt:lpstr>What generator produces</vt:lpstr>
      <vt:lpstr>Aggregate Loops</vt:lpstr>
      <vt:lpstr>Having Clause + Selection</vt:lpstr>
      <vt:lpstr>Tech Stack</vt:lpstr>
      <vt:lpstr>Bugs and Errors so far</vt:lpstr>
      <vt:lpstr>Demo Time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Amaan Rajguru</dc:creator>
  <cp:lastModifiedBy>Amaan Rajguru</cp:lastModifiedBy>
  <cp:revision>3</cp:revision>
  <dcterms:created xsi:type="dcterms:W3CDTF">2026-05-07T19:25:20Z</dcterms:created>
  <dcterms:modified xsi:type="dcterms:W3CDTF">2026-05-09T04:23:24Z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